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 (MS)" panose="020B0604020202020204" charset="0"/>
      <p:regular r:id="rId19"/>
    </p:embeddedFont>
    <p:embeddedFont>
      <p:font typeface="Calibri (MS) Bold" panose="020B0604020202020204" charset="0"/>
      <p:regular r:id="rId20"/>
    </p:embeddedFont>
    <p:embeddedFont>
      <p:font typeface="Canva Sans" panose="020B0604020202020204" charset="0"/>
      <p:regular r:id="rId21"/>
    </p:embeddedFont>
    <p:embeddedFont>
      <p:font typeface="Canva Sans Bold" panose="020B0604020202020204" charset="0"/>
      <p:regular r:id="rId22"/>
    </p:embeddedFont>
    <p:embeddedFont>
      <p:font typeface="TT Rounds Condensed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C7D7D-5E79-490E-A1B3-059DE7A1113E}" v="8" dt="2026-05-22T11:17:17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3" y="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287619" cy="10313955"/>
            <a:chOff x="301624" y="18745"/>
            <a:chExt cx="24383492" cy="13751940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301624" y="18745"/>
              <a:ext cx="24383492" cy="13751940"/>
            </a:xfrm>
            <a:custGeom>
              <a:avLst/>
              <a:gdLst/>
              <a:ahLst/>
              <a:cxnLst/>
              <a:rect l="l" t="t" r="r" b="b"/>
              <a:pathLst>
                <a:path w="24383492" h="13751940">
                  <a:moveTo>
                    <a:pt x="0" y="0"/>
                  </a:moveTo>
                  <a:lnTo>
                    <a:pt x="24383492" y="0"/>
                  </a:lnTo>
                  <a:lnTo>
                    <a:pt x="24383492" y="13751940"/>
                  </a:lnTo>
                  <a:lnTo>
                    <a:pt x="0" y="13751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14790" y="2341311"/>
            <a:ext cx="11658057" cy="1451991"/>
            <a:chOff x="0" y="0"/>
            <a:chExt cx="15544076" cy="19359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44081" cy="1935991"/>
            </a:xfrm>
            <a:custGeom>
              <a:avLst/>
              <a:gdLst/>
              <a:ahLst/>
              <a:cxnLst/>
              <a:rect l="l" t="t" r="r" b="b"/>
              <a:pathLst>
                <a:path w="15544081" h="1935991">
                  <a:moveTo>
                    <a:pt x="0" y="0"/>
                  </a:moveTo>
                  <a:lnTo>
                    <a:pt x="15544081" y="0"/>
                  </a:lnTo>
                  <a:lnTo>
                    <a:pt x="15544081" y="1935991"/>
                  </a:lnTo>
                  <a:lnTo>
                    <a:pt x="0" y="19359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7168" b="-1057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15544076" cy="185026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776"/>
                </a:lnSpc>
              </a:pPr>
              <a:r>
                <a:rPr lang="en-US" sz="7200" b="1" spc="-45">
                  <a:solidFill>
                    <a:srgbClr val="FFFF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 IOT-Based Road Safety System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03106" y="3459805"/>
            <a:ext cx="9560522" cy="123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0"/>
              </a:lnSpc>
            </a:pPr>
            <a:endParaRPr/>
          </a:p>
          <a:p>
            <a:pPr algn="ctr">
              <a:lnSpc>
                <a:spcPts val="3250"/>
              </a:lnSpc>
            </a:pPr>
            <a:r>
              <a:rPr lang="en-US" sz="3009" b="1" spc="-1">
                <a:solidFill>
                  <a:srgbClr val="00206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B-TECH, EEE </a:t>
            </a:r>
          </a:p>
          <a:p>
            <a:pPr algn="ctr">
              <a:lnSpc>
                <a:spcPts val="3250"/>
              </a:lnSpc>
            </a:pPr>
            <a:r>
              <a:rPr lang="en-US" sz="3009" b="1" spc="-1">
                <a:solidFill>
                  <a:srgbClr val="00206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603" y="5252190"/>
            <a:ext cx="6340376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 Bold"/>
              </a:rPr>
              <a:t>Supervisors: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 Bold"/>
              </a:rPr>
              <a:t>Supervisor : Dr. Veerabhadra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 Bold"/>
              </a:rPr>
              <a:t>Co-supervisor: Mr. Raunak Das</a:t>
            </a:r>
          </a:p>
          <a:p>
            <a:pPr algn="just">
              <a:lnSpc>
                <a:spcPts val="4759"/>
              </a:lnSpc>
            </a:pPr>
            <a:endParaRPr lang="en-US" sz="33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201399" y="5002065"/>
            <a:ext cx="4908887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Student details: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277600" y="5579597"/>
            <a:ext cx="6629400" cy="3036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25ETEE003007-B.V.Pragya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25ETEE003011-C.P.Srivarshini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25ETEE003013-Chethana.M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25ETEE003017-Jananya A.G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25ETEE003019-Kavya.G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‹2›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7119" y="547564"/>
            <a:ext cx="12427563" cy="1718824"/>
            <a:chOff x="0" y="0"/>
            <a:chExt cx="16570084" cy="22917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70080" cy="2291760"/>
            </a:xfrm>
            <a:custGeom>
              <a:avLst/>
              <a:gdLst/>
              <a:ahLst/>
              <a:cxnLst/>
              <a:rect l="l" t="t" r="r" b="b"/>
              <a:pathLst>
                <a:path w="16570080" h="2291760">
                  <a:moveTo>
                    <a:pt x="0" y="0"/>
                  </a:moveTo>
                  <a:lnTo>
                    <a:pt x="16570080" y="0"/>
                  </a:lnTo>
                  <a:lnTo>
                    <a:pt x="16570080" y="2291760"/>
                  </a:lnTo>
                  <a:lnTo>
                    <a:pt x="0" y="229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882" b="-908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6570084" cy="22346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Outline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57119" y="2516378"/>
            <a:ext cx="15589977" cy="63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Title and Aim 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Block Diagram 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Code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Diagrams and  Images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Video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spc="-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 spc="-1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60095" lvl="1" indent="-380048" algn="l">
              <a:lnSpc>
                <a:spcPts val="4536"/>
              </a:lnSpc>
            </a:pPr>
            <a:endParaRPr lang="en-US" sz="4200" spc="-1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57119" y="547564"/>
            <a:ext cx="12427563" cy="1718820"/>
            <a:chOff x="0" y="0"/>
            <a:chExt cx="16570084" cy="2291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570080" cy="2291754"/>
            </a:xfrm>
            <a:custGeom>
              <a:avLst/>
              <a:gdLst/>
              <a:ahLst/>
              <a:cxnLst/>
              <a:rect l="l" t="t" r="r" b="b"/>
              <a:pathLst>
                <a:path w="16570080" h="2291754">
                  <a:moveTo>
                    <a:pt x="0" y="0"/>
                  </a:moveTo>
                  <a:lnTo>
                    <a:pt x="16570080" y="0"/>
                  </a:lnTo>
                  <a:lnTo>
                    <a:pt x="16570080" y="2291754"/>
                  </a:lnTo>
                  <a:lnTo>
                    <a:pt x="0" y="22917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882" b="-9088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16570084" cy="2234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b="1" spc="-34" dirty="0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Introduction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8" name="Freeform 8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3000" y="2505710"/>
            <a:ext cx="17145000" cy="6732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An automated streetlight system built using IoT technology that controls street lighting intelligently based on real-time environmental conditions.</a:t>
            </a:r>
          </a:p>
          <a:p>
            <a:pPr algn="l">
              <a:lnSpc>
                <a:spcPts val="4759"/>
              </a:lnSpc>
            </a:pPr>
            <a:endParaRPr lang="en-US" sz="3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The system detects ambient light levels and human/vehicle motion to automatically turn ON/OFF and adjust brightness.</a:t>
            </a:r>
          </a:p>
          <a:p>
            <a:pPr algn="l">
              <a:lnSpc>
                <a:spcPts val="4759"/>
              </a:lnSpc>
            </a:pPr>
            <a:endParaRPr lang="en-US" sz="3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Equipped with a GSM module and buzzer to send instant SMS alerts to authorities when in danger enhancing public safety and enabling remote monitoring.</a:t>
            </a:r>
          </a:p>
          <a:p>
            <a:pPr algn="l">
              <a:lnSpc>
                <a:spcPts val="4759"/>
              </a:lnSpc>
            </a:pPr>
            <a:endParaRPr lang="en-US" sz="3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Features a manual override button for emergency , making the system both fully automated and human-controllable.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D30101B9-54B9-B8E7-0773-0F3CFD870E32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ADFFA09-68AC-CCD5-06CC-0C4527DF6F0E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BE6DF900-D1B0-83FD-171C-D4BA2DAF606F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</a:t>
              </a:r>
              <a:r>
                <a:rPr lang="en-US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‹4›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2828896"/>
            <a:ext cx="12652528" cy="1562540"/>
            <a:chOff x="0" y="0"/>
            <a:chExt cx="16570084" cy="20463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70080" cy="2046338"/>
            </a:xfrm>
            <a:custGeom>
              <a:avLst/>
              <a:gdLst/>
              <a:ahLst/>
              <a:cxnLst/>
              <a:rect l="l" t="t" r="r" b="b"/>
              <a:pathLst>
                <a:path w="16570080" h="2046338">
                  <a:moveTo>
                    <a:pt x="0" y="0"/>
                  </a:moveTo>
                  <a:lnTo>
                    <a:pt x="16570080" y="0"/>
                  </a:lnTo>
                  <a:lnTo>
                    <a:pt x="16570080" y="2046338"/>
                  </a:lnTo>
                  <a:lnTo>
                    <a:pt x="0" y="2046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82" b="-11377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570084" cy="2084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7"/>
                </a:lnSpc>
              </a:pPr>
              <a:r>
                <a:rPr lang="en-US" sz="4340" b="1" spc="-27">
                  <a:solidFill>
                    <a:srgbClr val="FF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Title : </a:t>
              </a:r>
              <a:r>
                <a:rPr lang="en-US" sz="4340" spc="-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IOT-BASED ROAD SAFETY SYSTEM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5448711"/>
            <a:ext cx="15951003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4431" b="1" spc="-28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Aim : </a:t>
            </a:r>
            <a:r>
              <a:rPr lang="en-US" sz="4431" spc="-2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develop a smart street light system using Arduino and sensors to improve safety, visibility, and energy efficiency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9620" y="871285"/>
            <a:ext cx="936443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  <a:spcBef>
                <a:spcPct val="0"/>
              </a:spcBef>
            </a:pPr>
            <a:r>
              <a:rPr lang="en-US" sz="5400" b="1" spc="-4">
                <a:solidFill>
                  <a:srgbClr val="FF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Title and 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4859" y="9506207"/>
            <a:ext cx="555660" cy="78025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r">
              <a:lnSpc>
                <a:spcPts val="2160"/>
              </a:lnSpc>
            </a:pPr>
            <a:endParaRPr lang="en-US" sz="1800" spc="-1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257119" y="547564"/>
            <a:ext cx="12427563" cy="1718824"/>
            <a:chOff x="0" y="0"/>
            <a:chExt cx="16570084" cy="22917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70080" cy="2291760"/>
            </a:xfrm>
            <a:custGeom>
              <a:avLst/>
              <a:gdLst/>
              <a:ahLst/>
              <a:cxnLst/>
              <a:rect l="l" t="t" r="r" b="b"/>
              <a:pathLst>
                <a:path w="16570080" h="2291760">
                  <a:moveTo>
                    <a:pt x="0" y="0"/>
                  </a:moveTo>
                  <a:lnTo>
                    <a:pt x="16570080" y="0"/>
                  </a:lnTo>
                  <a:lnTo>
                    <a:pt x="16570080" y="2291760"/>
                  </a:lnTo>
                  <a:lnTo>
                    <a:pt x="0" y="229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882" b="-908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6570084" cy="22346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Objectives of the project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62712" y="2413810"/>
            <a:ext cx="15589977" cy="8370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5719"/>
              </a:lnSpc>
              <a:buFont typeface="Arial"/>
              <a:buChar char="•"/>
            </a:pPr>
            <a:r>
              <a:rPr lang="en-US" sz="3200" spc="-59" dirty="0">
                <a:solidFill>
                  <a:srgbClr val="2021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To conduct literature review on enhancing road safety system and identification of research gap. </a:t>
            </a:r>
          </a:p>
          <a:p>
            <a:pPr marL="561337" lvl="1" indent="-280669" algn="l">
              <a:lnSpc>
                <a:spcPts val="5719"/>
              </a:lnSpc>
              <a:buFont typeface="Arial"/>
              <a:buChar char="•"/>
            </a:pPr>
            <a:r>
              <a:rPr lang="en-US" sz="3200" spc="-61" dirty="0">
                <a:solidFill>
                  <a:srgbClr val="2021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To significantly reduce power consumption  by automating the switching and dimming of lights based on ambient light levels (LDR).</a:t>
            </a:r>
          </a:p>
          <a:p>
            <a:pPr marL="561337" lvl="1" indent="-280669" algn="l">
              <a:lnSpc>
                <a:spcPts val="6238"/>
              </a:lnSpc>
              <a:buFont typeface="Arial"/>
              <a:buChar char="•"/>
            </a:pPr>
            <a:r>
              <a:rPr lang="en-US" sz="3200" spc="-66" dirty="0">
                <a:solidFill>
                  <a:srgbClr val="2021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To provide brighter illumination when vehicles or pedestrians are detected and ensure streets are not entirely dark, reducing accident rates and improving security.</a:t>
            </a:r>
          </a:p>
          <a:p>
            <a:pPr marL="561337" lvl="1" indent="-280669" algn="l">
              <a:lnSpc>
                <a:spcPts val="5719"/>
              </a:lnSpc>
              <a:buFont typeface="Arial"/>
              <a:buChar char="•"/>
            </a:pPr>
            <a:r>
              <a:rPr lang="en-US" sz="3200" spc="-59" dirty="0">
                <a:solidFill>
                  <a:srgbClr val="2021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 To incorporate manual emergency switches (SOS) on poles that notify authorities, enhancing women's safety and speeding up emergency response times.</a:t>
            </a:r>
          </a:p>
          <a:p>
            <a:pPr marL="561337" lvl="1" indent="-280669" algn="l">
              <a:lnSpc>
                <a:spcPts val="5719"/>
              </a:lnSpc>
              <a:buFont typeface="Arial"/>
              <a:buChar char="•"/>
            </a:pPr>
            <a:r>
              <a:rPr lang="en-US" sz="3200" spc="-61" dirty="0">
                <a:solidFill>
                  <a:srgbClr val="2021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To reduce electricity consumption by controlling street lights intelligently based on environmental conditions or movement detection.</a:t>
            </a:r>
          </a:p>
          <a:p>
            <a:pPr algn="l">
              <a:lnSpc>
                <a:spcPts val="4839"/>
              </a:lnSpc>
            </a:pPr>
            <a:endParaRPr lang="en-US" sz="3200" spc="-61" dirty="0">
              <a:solidFill>
                <a:srgbClr val="20212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375"/>
              </a:lnSpc>
            </a:pPr>
            <a:endParaRPr lang="en-US" sz="2599" spc="-61" dirty="0">
              <a:solidFill>
                <a:srgbClr val="20212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4859" y="9534782"/>
            <a:ext cx="555660" cy="751680"/>
            <a:chOff x="0" y="0"/>
            <a:chExt cx="740880" cy="1002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0918" cy="1002278"/>
            </a:xfrm>
            <a:custGeom>
              <a:avLst/>
              <a:gdLst/>
              <a:ahLst/>
              <a:cxnLst/>
              <a:rect l="l" t="t" r="r" b="b"/>
              <a:pathLst>
                <a:path w="740918" h="1002278">
                  <a:moveTo>
                    <a:pt x="0" y="0"/>
                  </a:moveTo>
                  <a:lnTo>
                    <a:pt x="740918" y="0"/>
                  </a:lnTo>
                  <a:lnTo>
                    <a:pt x="740918" y="1002278"/>
                  </a:lnTo>
                  <a:lnTo>
                    <a:pt x="0" y="1002278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40880" cy="1040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‹6›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7119" y="547564"/>
            <a:ext cx="12427563" cy="1718824"/>
            <a:chOff x="0" y="0"/>
            <a:chExt cx="16570084" cy="22917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70080" cy="2291760"/>
            </a:xfrm>
            <a:custGeom>
              <a:avLst/>
              <a:gdLst/>
              <a:ahLst/>
              <a:cxnLst/>
              <a:rect l="l" t="t" r="r" b="b"/>
              <a:pathLst>
                <a:path w="16570080" h="2291760">
                  <a:moveTo>
                    <a:pt x="0" y="0"/>
                  </a:moveTo>
                  <a:lnTo>
                    <a:pt x="16570080" y="0"/>
                  </a:lnTo>
                  <a:lnTo>
                    <a:pt x="16570080" y="2291760"/>
                  </a:lnTo>
                  <a:lnTo>
                    <a:pt x="0" y="229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882" b="-908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16570084" cy="22346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Block Diagram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2CF8816-5B5E-FB69-568A-65A848FB5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309246"/>
            <a:ext cx="12115800" cy="6949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4" name="Freeform 4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9620" y="429479"/>
            <a:ext cx="16458657" cy="1717196"/>
            <a:chOff x="0" y="0"/>
            <a:chExt cx="21944876" cy="22895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4881" cy="2289600"/>
            </a:xfrm>
            <a:custGeom>
              <a:avLst/>
              <a:gdLst/>
              <a:ahLst/>
              <a:cxnLst/>
              <a:rect l="l" t="t" r="r" b="b"/>
              <a:pathLst>
                <a:path w="21944881" h="2289600">
                  <a:moveTo>
                    <a:pt x="0" y="0"/>
                  </a:moveTo>
                  <a:lnTo>
                    <a:pt x="21944881" y="0"/>
                  </a:lnTo>
                  <a:lnTo>
                    <a:pt x="21944881" y="2289600"/>
                  </a:lnTo>
                  <a:lnTo>
                    <a:pt x="0" y="228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6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944876" cy="2289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Literature Survey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9263" y="1717196"/>
            <a:ext cx="15829474" cy="47625"/>
            <a:chOff x="0" y="0"/>
            <a:chExt cx="21105965" cy="63500"/>
          </a:xfrm>
        </p:grpSpPr>
        <p:sp>
          <p:nvSpPr>
            <p:cNvPr id="9" name="Freeform 9"/>
            <p:cNvSpPr/>
            <p:nvPr/>
          </p:nvSpPr>
          <p:spPr>
            <a:xfrm>
              <a:off x="38100" y="0"/>
              <a:ext cx="21029803" cy="63467"/>
            </a:xfrm>
            <a:custGeom>
              <a:avLst/>
              <a:gdLst/>
              <a:ahLst/>
              <a:cxnLst/>
              <a:rect l="l" t="t" r="r" b="b"/>
              <a:pathLst>
                <a:path w="21029803" h="63467">
                  <a:moveTo>
                    <a:pt x="0" y="0"/>
                  </a:moveTo>
                  <a:lnTo>
                    <a:pt x="21029803" y="13624"/>
                  </a:lnTo>
                  <a:lnTo>
                    <a:pt x="21029676" y="63467"/>
                  </a:lnTo>
                  <a:lnTo>
                    <a:pt x="0" y="49843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6B49A5FC-8753-4B3E-9EE0-90C3330F6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646" y="2476500"/>
            <a:ext cx="657976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AE8C5B-4A36-8617-99D9-3720A9B14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159375"/>
            <a:ext cx="14982825" cy="7820025"/>
          </a:xfrm>
          <a:prstGeom prst="rect">
            <a:avLst/>
          </a:prstGeom>
        </p:spPr>
      </p:pic>
      <p:grpSp>
        <p:nvGrpSpPr>
          <p:cNvPr id="14" name="Group 4">
            <a:extLst>
              <a:ext uri="{FF2B5EF4-FFF2-40B4-BE49-F238E27FC236}">
                <a16:creationId xmlns:a16="http://schemas.microsoft.com/office/drawing/2014/main" id="{149E8C2A-2A96-5848-49D7-369BA7CCAB82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604FFC72-7E49-88FD-9EBF-4139F5006D55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CF1AB7DC-572D-6B79-5ED8-4575926EC109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</a:t>
              </a:r>
              <a:r>
                <a:rPr lang="en-US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‹8›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219" y="410404"/>
            <a:ext cx="16458657" cy="1717196"/>
            <a:chOff x="0" y="0"/>
            <a:chExt cx="21944876" cy="22895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4881" cy="2289600"/>
            </a:xfrm>
            <a:custGeom>
              <a:avLst/>
              <a:gdLst/>
              <a:ahLst/>
              <a:cxnLst/>
              <a:rect l="l" t="t" r="r" b="b"/>
              <a:pathLst>
                <a:path w="21944881" h="2289600">
                  <a:moveTo>
                    <a:pt x="0" y="0"/>
                  </a:moveTo>
                  <a:lnTo>
                    <a:pt x="21944881" y="0"/>
                  </a:lnTo>
                  <a:lnTo>
                    <a:pt x="21944881" y="2289600"/>
                  </a:lnTo>
                  <a:lnTo>
                    <a:pt x="0" y="228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6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1944876" cy="2289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Literature Survey</a:t>
              </a:r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229620" y="2638682"/>
          <a:ext cx="15697200" cy="6896099"/>
        </p:xfrm>
        <a:graphic>
          <a:graphicData uri="http://schemas.openxmlformats.org/drawingml/2006/table">
            <a:tbl>
              <a:tblPr/>
              <a:tblGrid>
                <a:gridCol w="1992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91544"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Sl. No.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Author(s) &amp; Year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Journal / Publisher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Technique / Focus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Assumptions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Major Contributions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 Identified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Relevance to Present Work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0079">
                <a:tc>
                  <a:txBody>
                    <a:bodyPr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 Scholar (2021)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 Scholar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IoT applications for road and human safety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Assumes sensors can accurately monitor road conditions and human presence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Highlights integration of IoT devices for accident prevention and public safety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Generalized approach with limited implementation details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Supports the safety-oriented objective of the present project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4476">
                <a:tc>
                  <a:txBody>
                    <a:bodyPr/>
                    <a:lstStyle/>
                    <a:p>
                      <a:pPr algn="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Prime Scholars (2023)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Prime Scholars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GPS and GSM-based accident detection and alert system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Assumes accurate GPS tracking and GSM communication in all locations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Improves emergency response through real-time accident alerts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Dependent on network availability and may fail in remote areas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Useful for implementing emergency notification features in the project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0468" y="358831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254917" y="2736056"/>
          <a:ext cx="16006760" cy="1303337"/>
        </p:xfrm>
        <a:graphic>
          <a:graphicData uri="http://schemas.openxmlformats.org/drawingml/2006/table">
            <a:tbl>
              <a:tblPr/>
              <a:tblGrid>
                <a:gridCol w="200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03337"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Sl. No.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Author(s) &amp; Year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Journal / Publisher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Technique / Focus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Assumptions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Major Contributions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Limitations Identified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Relevance to Present Work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914219" y="410404"/>
            <a:ext cx="16458657" cy="1717196"/>
            <a:chOff x="0" y="0"/>
            <a:chExt cx="21944876" cy="22895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4881" cy="2289600"/>
            </a:xfrm>
            <a:custGeom>
              <a:avLst/>
              <a:gdLst/>
              <a:ahLst/>
              <a:cxnLst/>
              <a:rect l="l" t="t" r="r" b="b"/>
              <a:pathLst>
                <a:path w="21944881" h="2289600">
                  <a:moveTo>
                    <a:pt x="0" y="0"/>
                  </a:moveTo>
                  <a:lnTo>
                    <a:pt x="21944881" y="0"/>
                  </a:lnTo>
                  <a:lnTo>
                    <a:pt x="21944881" y="2289600"/>
                  </a:lnTo>
                  <a:lnTo>
                    <a:pt x="0" y="228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6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944876" cy="2289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Literature Survey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9" name="Freeform 9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254917" y="4039394"/>
          <a:ext cx="16006761" cy="2662238"/>
        </p:xfrm>
        <a:graphic>
          <a:graphicData uri="http://schemas.openxmlformats.org/drawingml/2006/table">
            <a:tbl>
              <a:tblPr/>
              <a:tblGrid>
                <a:gridCol w="198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00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62238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arXiv (2024)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arXiv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Multi-sensor intrusion detection system using IoT sensors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Assumes sensors can reliably detect suspicious movement or intrusion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Enhances security through multi-sensor monitoring and detection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Complex sensor integration may increase system cost and maintenance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Relevant for integrating PIR and safety monitoring features in smart streetlight systems</a:t>
                      </a:r>
                      <a:endParaRPr lang="en-US" sz="1100"/>
                    </a:p>
                  </a:txBody>
                  <a:tcPr marL="68580" marR="68580" marT="68580" marB="6858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Group 4">
            <a:extLst>
              <a:ext uri="{FF2B5EF4-FFF2-40B4-BE49-F238E27FC236}">
                <a16:creationId xmlns:a16="http://schemas.microsoft.com/office/drawing/2014/main" id="{94B8D451-46A5-33F2-1843-7467551F758A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2E01B15-071C-3F45-7CC2-0431A164C2D1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BC63C272-E37E-0D04-C1C6-888BCDFE337B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</a:t>
              </a:r>
              <a:r>
                <a:rPr lang="en-US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‹10›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219" y="410404"/>
            <a:ext cx="16458657" cy="1717200"/>
            <a:chOff x="0" y="0"/>
            <a:chExt cx="21944876" cy="228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4881" cy="2289606"/>
            </a:xfrm>
            <a:custGeom>
              <a:avLst/>
              <a:gdLst/>
              <a:ahLst/>
              <a:cxnLst/>
              <a:rect l="l" t="t" r="r" b="b"/>
              <a:pathLst>
                <a:path w="21944881" h="2289606">
                  <a:moveTo>
                    <a:pt x="0" y="0"/>
                  </a:moveTo>
                  <a:lnTo>
                    <a:pt x="21944881" y="0"/>
                  </a:lnTo>
                  <a:lnTo>
                    <a:pt x="21944881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5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1944876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 dirty="0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Components Required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14219" y="2595954"/>
            <a:ext cx="16344176" cy="765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Arduino Uno R3                                                 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Pir sensor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Ldr</a:t>
            </a: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 sensor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GSM sim 900a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Sound sensor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220 ohm resistor    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Yellow led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Jumper wires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Breadboard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Push button </a:t>
            </a:r>
          </a:p>
          <a:p>
            <a:pPr marL="774364" lvl="1" indent="-387182" algn="l">
              <a:lnSpc>
                <a:spcPts val="5021"/>
              </a:lnSpc>
              <a:buFont typeface="Arial"/>
              <a:buChar char="•"/>
            </a:pPr>
            <a:r>
              <a:rPr lang="en-US" sz="3586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Active Buzzer</a:t>
            </a:r>
          </a:p>
          <a:p>
            <a:pPr algn="l">
              <a:lnSpc>
                <a:spcPts val="5021"/>
              </a:lnSpc>
            </a:pPr>
            <a:endParaRPr lang="en-US" sz="358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0468" y="358831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29620" y="410404"/>
            <a:ext cx="16143256" cy="1717200"/>
            <a:chOff x="0" y="0"/>
            <a:chExt cx="21524341" cy="228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24345" cy="2289606"/>
            </a:xfrm>
            <a:custGeom>
              <a:avLst/>
              <a:gdLst/>
              <a:ahLst/>
              <a:cxnLst/>
              <a:rect l="l" t="t" r="r" b="b"/>
              <a:pathLst>
                <a:path w="21524345" h="2289606">
                  <a:moveTo>
                    <a:pt x="0" y="0"/>
                  </a:moveTo>
                  <a:lnTo>
                    <a:pt x="21524345" y="0"/>
                  </a:lnTo>
                  <a:lnTo>
                    <a:pt x="21524345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5" r="-1953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524341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Code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8" name="Freeform 8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1229620" y="2558111"/>
            <a:ext cx="5006105" cy="6356958"/>
          </a:xfrm>
          <a:custGeom>
            <a:avLst/>
            <a:gdLst/>
            <a:ahLst/>
            <a:cxnLst/>
            <a:rect l="l" t="t" r="r" b="b"/>
            <a:pathLst>
              <a:path w="5006105" h="6356958">
                <a:moveTo>
                  <a:pt x="0" y="0"/>
                </a:moveTo>
                <a:lnTo>
                  <a:pt x="5006105" y="0"/>
                </a:lnTo>
                <a:lnTo>
                  <a:pt x="500610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8893431" y="2558111"/>
            <a:ext cx="5904025" cy="6356958"/>
          </a:xfrm>
          <a:custGeom>
            <a:avLst/>
            <a:gdLst/>
            <a:ahLst/>
            <a:cxnLst/>
            <a:rect l="l" t="t" r="r" b="b"/>
            <a:pathLst>
              <a:path w="5904025" h="6356958">
                <a:moveTo>
                  <a:pt x="0" y="0"/>
                </a:moveTo>
                <a:lnTo>
                  <a:pt x="5904025" y="0"/>
                </a:lnTo>
                <a:lnTo>
                  <a:pt x="59040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D7524C8-C9EC-992B-161F-CE23447AA8C1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A485BF-D8B0-9409-34F4-DF49F4B770C8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5964216C-0C6C-2F2A-CA60-E6DAA45F5177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‹11›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56881" y="3190719"/>
            <a:ext cx="7502419" cy="6067581"/>
          </a:xfrm>
          <a:custGeom>
            <a:avLst/>
            <a:gdLst/>
            <a:ahLst/>
            <a:cxnLst/>
            <a:rect l="l" t="t" r="r" b="b"/>
            <a:pathLst>
              <a:path w="7502419" h="6067581">
                <a:moveTo>
                  <a:pt x="0" y="0"/>
                </a:moveTo>
                <a:lnTo>
                  <a:pt x="7502419" y="0"/>
                </a:lnTo>
                <a:lnTo>
                  <a:pt x="7502419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229620" y="2692352"/>
            <a:ext cx="6531616" cy="6742033"/>
          </a:xfrm>
          <a:custGeom>
            <a:avLst/>
            <a:gdLst/>
            <a:ahLst/>
            <a:cxnLst/>
            <a:rect l="l" t="t" r="r" b="b"/>
            <a:pathLst>
              <a:path w="6531616" h="6742033">
                <a:moveTo>
                  <a:pt x="0" y="0"/>
                </a:moveTo>
                <a:lnTo>
                  <a:pt x="6531616" y="0"/>
                </a:lnTo>
                <a:lnTo>
                  <a:pt x="6531616" y="6742032"/>
                </a:lnTo>
                <a:lnTo>
                  <a:pt x="0" y="6742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79" r="-3320" b="-417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5" name="Freeform 5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29620" y="410404"/>
            <a:ext cx="16143256" cy="1717200"/>
            <a:chOff x="0" y="0"/>
            <a:chExt cx="21524341" cy="228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24345" cy="2289606"/>
            </a:xfrm>
            <a:custGeom>
              <a:avLst/>
              <a:gdLst/>
              <a:ahLst/>
              <a:cxnLst/>
              <a:rect l="l" t="t" r="r" b="b"/>
              <a:pathLst>
                <a:path w="21524345" h="2289606">
                  <a:moveTo>
                    <a:pt x="0" y="0"/>
                  </a:moveTo>
                  <a:lnTo>
                    <a:pt x="21524345" y="0"/>
                  </a:lnTo>
                  <a:lnTo>
                    <a:pt x="21524345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755" r="-1953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1524341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Code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10" name="Freeform 10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1A676A4D-445E-4DE2-079F-A7618CADC9F0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59C803D-9584-01C5-40D5-A51AF01E53E7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770BD8B1-ECB5-2D13-513E-84089576411C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‹12›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8" name="Freeform 8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3215" y="2095843"/>
            <a:ext cx="15829474" cy="72809"/>
            <a:chOff x="0" y="0"/>
            <a:chExt cx="21105965" cy="97079"/>
          </a:xfrm>
        </p:grpSpPr>
        <p:sp>
          <p:nvSpPr>
            <p:cNvPr id="10" name="Freeform 10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‹13›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3215" y="651477"/>
            <a:ext cx="16458657" cy="1717200"/>
            <a:chOff x="0" y="0"/>
            <a:chExt cx="21944876" cy="228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4881" cy="2289606"/>
            </a:xfrm>
            <a:custGeom>
              <a:avLst/>
              <a:gdLst/>
              <a:ahLst/>
              <a:cxnLst/>
              <a:rect l="l" t="t" r="r" b="b"/>
              <a:pathLst>
                <a:path w="21944881" h="2289606">
                  <a:moveTo>
                    <a:pt x="0" y="0"/>
                  </a:moveTo>
                  <a:lnTo>
                    <a:pt x="21944881" y="0"/>
                  </a:lnTo>
                  <a:lnTo>
                    <a:pt x="21944881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5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1944876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Photos of the prototype model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219" y="2406777"/>
            <a:ext cx="6486295" cy="7087210"/>
            <a:chOff x="0" y="0"/>
            <a:chExt cx="9115285" cy="99597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15298" cy="9959721"/>
            </a:xfrm>
            <a:custGeom>
              <a:avLst/>
              <a:gdLst/>
              <a:ahLst/>
              <a:cxnLst/>
              <a:rect l="l" t="t" r="r" b="b"/>
              <a:pathLst>
                <a:path w="9115298" h="9959721">
                  <a:moveTo>
                    <a:pt x="0" y="0"/>
                  </a:moveTo>
                  <a:lnTo>
                    <a:pt x="9115298" y="0"/>
                  </a:lnTo>
                  <a:lnTo>
                    <a:pt x="9115298" y="9959721"/>
                  </a:lnTo>
                  <a:lnTo>
                    <a:pt x="0" y="995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Freeform 19"/>
          <p:cNvSpPr/>
          <p:nvPr/>
        </p:nvSpPr>
        <p:spPr>
          <a:xfrm>
            <a:off x="8791795" y="2845855"/>
            <a:ext cx="7960894" cy="6412445"/>
          </a:xfrm>
          <a:custGeom>
            <a:avLst/>
            <a:gdLst/>
            <a:ahLst/>
            <a:cxnLst/>
            <a:rect l="l" t="t" r="r" b="b"/>
            <a:pathLst>
              <a:path w="7960894" h="6412445">
                <a:moveTo>
                  <a:pt x="0" y="0"/>
                </a:moveTo>
                <a:lnTo>
                  <a:pt x="7960894" y="0"/>
                </a:lnTo>
                <a:lnTo>
                  <a:pt x="7960894" y="6412445"/>
                </a:lnTo>
                <a:lnTo>
                  <a:pt x="0" y="6412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99" r="-36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444587" y="9427312"/>
            <a:ext cx="496862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Fig1.Initial Connections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63992" y="9427312"/>
            <a:ext cx="6142808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Fig2.Model of our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29620" y="871285"/>
            <a:ext cx="16458657" cy="1717200"/>
            <a:chOff x="0" y="0"/>
            <a:chExt cx="21944876" cy="228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4881" cy="2289606"/>
            </a:xfrm>
            <a:custGeom>
              <a:avLst/>
              <a:gdLst/>
              <a:ahLst/>
              <a:cxnLst/>
              <a:rect l="l" t="t" r="r" b="b"/>
              <a:pathLst>
                <a:path w="21944881" h="2289606">
                  <a:moveTo>
                    <a:pt x="0" y="0"/>
                  </a:moveTo>
                  <a:lnTo>
                    <a:pt x="21944881" y="0"/>
                  </a:lnTo>
                  <a:lnTo>
                    <a:pt x="21944881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6755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944876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Video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8" name="Freeform 8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3275700" y="2782891"/>
            <a:ext cx="11487756" cy="6475409"/>
          </a:xfrm>
          <a:prstGeom prst="rect">
            <a:avLst/>
          </a:prstGeom>
        </p:spPr>
      </p:pic>
      <p:grpSp>
        <p:nvGrpSpPr>
          <p:cNvPr id="10" name="Group 4">
            <a:extLst>
              <a:ext uri="{FF2B5EF4-FFF2-40B4-BE49-F238E27FC236}">
                <a16:creationId xmlns:a16="http://schemas.microsoft.com/office/drawing/2014/main" id="{DA78FF43-15E5-F598-040A-4288FE04B453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964FA0E-86E0-AC93-CD75-04B8ED2AA019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209B5DE7-20CE-C480-3F29-206A585F3E58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‹14›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29620" y="682555"/>
            <a:ext cx="16458657" cy="1717200"/>
            <a:chOff x="0" y="0"/>
            <a:chExt cx="21944876" cy="228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4881" cy="2289606"/>
            </a:xfrm>
            <a:custGeom>
              <a:avLst/>
              <a:gdLst/>
              <a:ahLst/>
              <a:cxnLst/>
              <a:rect l="l" t="t" r="r" b="b"/>
              <a:pathLst>
                <a:path w="21944881" h="2289606">
                  <a:moveTo>
                    <a:pt x="0" y="0"/>
                  </a:moveTo>
                  <a:lnTo>
                    <a:pt x="21944881" y="0"/>
                  </a:lnTo>
                  <a:lnTo>
                    <a:pt x="21944881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5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944876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Conclusion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9620" y="2031903"/>
            <a:ext cx="15829474" cy="47625"/>
            <a:chOff x="0" y="0"/>
            <a:chExt cx="21105965" cy="63500"/>
          </a:xfrm>
        </p:grpSpPr>
        <p:sp>
          <p:nvSpPr>
            <p:cNvPr id="8" name="Freeform 8"/>
            <p:cNvSpPr/>
            <p:nvPr/>
          </p:nvSpPr>
          <p:spPr>
            <a:xfrm>
              <a:off x="38100" y="0"/>
              <a:ext cx="21029803" cy="63467"/>
            </a:xfrm>
            <a:custGeom>
              <a:avLst/>
              <a:gdLst/>
              <a:ahLst/>
              <a:cxnLst/>
              <a:rect l="l" t="t" r="r" b="b"/>
              <a:pathLst>
                <a:path w="21029803" h="63467">
                  <a:moveTo>
                    <a:pt x="0" y="0"/>
                  </a:moveTo>
                  <a:lnTo>
                    <a:pt x="21029803" y="13624"/>
                  </a:lnTo>
                  <a:lnTo>
                    <a:pt x="21029676" y="63467"/>
                  </a:lnTo>
                  <a:lnTo>
                    <a:pt x="0" y="49843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626526"/>
            <a:ext cx="16030394" cy="544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an IoT-based smart streetlight and road safety system to improve public safety and energy efficiency during nighttime.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automatic light control using LDR and PIR sensors along with GSM-based emergency alert features.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provides a cost-effective, automated, and reliable solution for smarter and safer public spaces.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EFB70F5A-D274-8A9D-01A1-98066565A913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C46DC81-5184-D3DD-8C3F-6CAE419E0EE1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AFD7F2E8-BE2A-B562-72DA-2E7357D10230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‹15›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29620" y="871285"/>
            <a:ext cx="16458657" cy="1717200"/>
            <a:chOff x="0" y="0"/>
            <a:chExt cx="21944876" cy="228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4881" cy="2289606"/>
            </a:xfrm>
            <a:custGeom>
              <a:avLst/>
              <a:gdLst/>
              <a:ahLst/>
              <a:cxnLst/>
              <a:rect l="l" t="t" r="r" b="b"/>
              <a:pathLst>
                <a:path w="21944881" h="2289606">
                  <a:moveTo>
                    <a:pt x="0" y="0"/>
                  </a:moveTo>
                  <a:lnTo>
                    <a:pt x="21944881" y="0"/>
                  </a:lnTo>
                  <a:lnTo>
                    <a:pt x="21944881" y="2289606"/>
                  </a:lnTo>
                  <a:lnTo>
                    <a:pt x="0" y="2289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55" b="-1367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944876" cy="228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-34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9620" y="2222687"/>
            <a:ext cx="15829474" cy="72809"/>
            <a:chOff x="0" y="0"/>
            <a:chExt cx="21105965" cy="97079"/>
          </a:xfrm>
        </p:grpSpPr>
        <p:sp>
          <p:nvSpPr>
            <p:cNvPr id="8" name="Freeform 8"/>
            <p:cNvSpPr/>
            <p:nvPr/>
          </p:nvSpPr>
          <p:spPr>
            <a:xfrm>
              <a:off x="38100" y="0"/>
              <a:ext cx="21029803" cy="97028"/>
            </a:xfrm>
            <a:custGeom>
              <a:avLst/>
              <a:gdLst/>
              <a:ahLst/>
              <a:cxnLst/>
              <a:rect l="l" t="t" r="r" b="b"/>
              <a:pathLst>
                <a:path w="21029803" h="97028">
                  <a:moveTo>
                    <a:pt x="0" y="0"/>
                  </a:moveTo>
                  <a:lnTo>
                    <a:pt x="21029803" y="20828"/>
                  </a:lnTo>
                  <a:lnTo>
                    <a:pt x="21029676" y="9702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521810"/>
            <a:ext cx="16230600" cy="636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3"/>
              </a:lnSpc>
            </a:pPr>
            <a:r>
              <a:rPr lang="en-US" sz="32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1.ResearchGate (2019) IoT based car accident detection and notification algorithm for general road accidents</a:t>
            </a:r>
          </a:p>
          <a:p>
            <a:pPr algn="l">
              <a:lnSpc>
                <a:spcPts val="4603"/>
              </a:lnSpc>
            </a:pPr>
            <a:endParaRPr lang="en-US" sz="328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603"/>
              </a:lnSpc>
            </a:pPr>
            <a:r>
              <a:rPr lang="en-US" sz="32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MakHill Publications (2020) Smart highway lighting solution based on IoT.</a:t>
            </a:r>
          </a:p>
          <a:p>
            <a:pPr algn="l">
              <a:lnSpc>
                <a:spcPts val="4603"/>
              </a:lnSpc>
            </a:pPr>
            <a:endParaRPr lang="en-US" sz="328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603"/>
              </a:lnSpc>
            </a:pPr>
            <a:r>
              <a:rPr lang="en-US" sz="32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Semantic Scholar (2021) Application of IoT for human safety on road. </a:t>
            </a:r>
          </a:p>
          <a:p>
            <a:pPr algn="l">
              <a:lnSpc>
                <a:spcPts val="4603"/>
              </a:lnSpc>
            </a:pPr>
            <a:endParaRPr lang="en-US" sz="328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603"/>
              </a:lnSpc>
            </a:pPr>
            <a:r>
              <a:rPr lang="en-US" sz="32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Prime Scholars (2023) Accident detection and alert system GPS and GSM on IoT based. </a:t>
            </a:r>
          </a:p>
          <a:p>
            <a:pPr algn="l">
              <a:lnSpc>
                <a:spcPts val="4603"/>
              </a:lnSpc>
            </a:pPr>
            <a:endParaRPr lang="en-US" sz="328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603"/>
              </a:lnSpc>
              <a:spcBef>
                <a:spcPct val="0"/>
              </a:spcBef>
            </a:pPr>
            <a:r>
              <a:rPr lang="en-US" sz="32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5. arXiv (2024) Multi-sensor intrusion detection system. 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9AD64F30-2D34-34A0-1DE6-F6DEDB6BB23D}"/>
              </a:ext>
            </a:extLst>
          </p:cNvPr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9F4AA53-0E96-9DCB-5241-C2B470D38ACE}"/>
                </a:ext>
              </a:extLst>
            </p:cNvPr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A0786428-ABE3-ED2C-39EC-5F239D10CF85}"/>
                </a:ext>
              </a:extLst>
            </p:cNvPr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‹16›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3177" y="201416"/>
            <a:ext cx="4228205" cy="1339739"/>
            <a:chOff x="0" y="0"/>
            <a:chExt cx="5637606" cy="1786318"/>
          </a:xfrm>
        </p:grpSpPr>
        <p:sp>
          <p:nvSpPr>
            <p:cNvPr id="3" name="Freeform 3" descr="Screen Clipping"/>
            <p:cNvSpPr/>
            <p:nvPr/>
          </p:nvSpPr>
          <p:spPr>
            <a:xfrm>
              <a:off x="0" y="0"/>
              <a:ext cx="5637657" cy="1786382"/>
            </a:xfrm>
            <a:custGeom>
              <a:avLst/>
              <a:gdLst/>
              <a:ahLst/>
              <a:cxnLst/>
              <a:rect l="l" t="t" r="r" b="b"/>
              <a:pathLst>
                <a:path w="5637657" h="1786382">
                  <a:moveTo>
                    <a:pt x="0" y="0"/>
                  </a:moveTo>
                  <a:lnTo>
                    <a:pt x="5637657" y="0"/>
                  </a:lnTo>
                  <a:lnTo>
                    <a:pt x="5637657" y="1786382"/>
                  </a:lnTo>
                  <a:lnTo>
                    <a:pt x="0" y="1786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474859" y="9534782"/>
            <a:ext cx="555660" cy="751684"/>
            <a:chOff x="0" y="0"/>
            <a:chExt cx="740880" cy="1002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918" cy="1002284"/>
            </a:xfrm>
            <a:custGeom>
              <a:avLst/>
              <a:gdLst/>
              <a:ahLst/>
              <a:cxnLst/>
              <a:rect l="l" t="t" r="r" b="b"/>
              <a:pathLst>
                <a:path w="740918" h="1002284">
                  <a:moveTo>
                    <a:pt x="0" y="0"/>
                  </a:moveTo>
                  <a:lnTo>
                    <a:pt x="740918" y="0"/>
                  </a:lnTo>
                  <a:lnTo>
                    <a:pt x="740918" y="1002284"/>
                  </a:lnTo>
                  <a:lnTo>
                    <a:pt x="0" y="1002284"/>
                  </a:lnTo>
                  <a:close/>
                </a:path>
              </a:pathLst>
            </a:custGeom>
            <a:solidFill>
              <a:srgbClr val="9D1D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40880" cy="1040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spc="-1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‹17›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19096" y="2334416"/>
            <a:ext cx="13313702" cy="6923342"/>
            <a:chOff x="0" y="0"/>
            <a:chExt cx="17751603" cy="92311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51552" cy="9231122"/>
            </a:xfrm>
            <a:custGeom>
              <a:avLst/>
              <a:gdLst/>
              <a:ahLst/>
              <a:cxnLst/>
              <a:rect l="l" t="t" r="r" b="b"/>
              <a:pathLst>
                <a:path w="17751552" h="9231122">
                  <a:moveTo>
                    <a:pt x="0" y="0"/>
                  </a:moveTo>
                  <a:lnTo>
                    <a:pt x="17751552" y="0"/>
                  </a:lnTo>
                  <a:lnTo>
                    <a:pt x="17751552" y="9231122"/>
                  </a:lnTo>
                  <a:lnTo>
                    <a:pt x="0" y="9231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5" r="-12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726</Words>
  <Application>Microsoft Office PowerPoint</Application>
  <PresentationFormat>Custom</PresentationFormat>
  <Paragraphs>139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Canva Sans Bold</vt:lpstr>
      <vt:lpstr>TT Rounds Condensed Bold</vt:lpstr>
      <vt:lpstr>Calibri</vt:lpstr>
      <vt:lpstr>Arial</vt:lpstr>
      <vt:lpstr>Calibri (MS)</vt:lpstr>
      <vt:lpstr>Canva Sans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9- IOT Based Road safety system</dc:title>
  <cp:lastModifiedBy>chethanamp22@gmail.com</cp:lastModifiedBy>
  <cp:revision>3</cp:revision>
  <dcterms:created xsi:type="dcterms:W3CDTF">2006-08-16T00:00:00Z</dcterms:created>
  <dcterms:modified xsi:type="dcterms:W3CDTF">2026-05-22T11:26:08Z</dcterms:modified>
  <dc:identifier>DAHKXImim58</dc:identifier>
</cp:coreProperties>
</file>